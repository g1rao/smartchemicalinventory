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Lato"/>
      <p:regular r:id="rId17"/>
      <p:bold r:id="rId18"/>
      <p:italic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ED676E-008B-4513-818E-77692469F5DE}">
  <a:tblStyle styleId="{6CED676E-008B-4513-818E-77692469F5D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5.xml"/><Relationship Id="rId22" Type="http://schemas.openxmlformats.org/officeDocument/2006/relationships/font" Target="fonts/Poppins-bold.fntdata"/><Relationship Id="rId10" Type="http://schemas.openxmlformats.org/officeDocument/2006/relationships/slide" Target="slides/slide4.xml"/><Relationship Id="rId21" Type="http://schemas.openxmlformats.org/officeDocument/2006/relationships/font" Target="fonts/Poppins-regular.fntdata"/><Relationship Id="rId13" Type="http://schemas.openxmlformats.org/officeDocument/2006/relationships/slide" Target="slides/slide7.xml"/><Relationship Id="rId24" Type="http://schemas.openxmlformats.org/officeDocument/2006/relationships/font" Target="fonts/Poppins-boldItalic.fntdata"/><Relationship Id="rId12" Type="http://schemas.openxmlformats.org/officeDocument/2006/relationships/slide" Target="slides/slide6.xml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ato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La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12" Type="http://schemas.openxmlformats.org/officeDocument/2006/relationships/image" Target="../media/image12.png"/><Relationship Id="rId9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16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10" Type="http://schemas.openxmlformats.org/officeDocument/2006/relationships/image" Target="../media/image34.png"/><Relationship Id="rId9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29.png"/><Relationship Id="rId6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36441"/>
            <a:ext cx="11049000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80010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SUDHEE 2026 CBIT HACKATHON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524000"/>
            <a:ext cx="1160145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Smart Chemical Inventory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Management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42950" y="3988891"/>
            <a:ext cx="15430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Smart Lab Inventory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489400" y="3988891"/>
            <a:ext cx="9906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[Team Name]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235850" y="3988891"/>
            <a:ext cx="9429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[Lead Name]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42950" y="4550866"/>
            <a:ext cx="3905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CBIT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489400" y="4550866"/>
            <a:ext cx="128587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Web Application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235850" y="4550866"/>
            <a:ext cx="2762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[ID]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2762250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Smart Chemical Inventory Management System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 a secure digital ecosystem designed to modernize laboratory safety at CBIT. It replaces fragmented manual tracking with a real-time command center.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4095750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Motivation: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safeguard students and faculty from chemical hazards while reducing departmental waste through intelligent expiry tracking and stock optimization.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ABSTRACT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4150"/>
            <a:ext cx="19050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0" y="2724150"/>
            <a:ext cx="1905000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43500" y="2809875"/>
            <a:ext cx="19050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9500" y="2809875"/>
            <a:ext cx="19050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0" y="2724150"/>
            <a:ext cx="1905000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47053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system ensures end-to-end traceability of hazardous materials within the CBIT lab premises.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2571750" y="3419475"/>
            <a:ext cx="1905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857750" y="3419475"/>
            <a:ext cx="1905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143750" y="3419475"/>
            <a:ext cx="1905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9429750" y="3419475"/>
            <a:ext cx="1905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57312" y="293370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43902" y="3295650"/>
            <a:ext cx="156019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User Auth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81050" y="3581400"/>
            <a:ext cx="148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Secure login for staff &amp; researchers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76650" y="29337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3029902" y="3295650"/>
            <a:ext cx="156019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Dashboard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3067050" y="3581400"/>
            <a:ext cx="148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Real-time stock &amp; expiry overview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43600" y="3019425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315902" y="3381375"/>
            <a:ext cx="156019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Operations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353050" y="3667125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Update stock / Use chemical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62937" y="3019425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601902" y="3381375"/>
            <a:ext cx="156019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 Persistence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639050" y="3667125"/>
            <a:ext cx="14859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SQLite transaction logging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534650" y="29337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9887902" y="3295650"/>
            <a:ext cx="156019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Alert Engine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925050" y="3581400"/>
            <a:ext cx="148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Automatic expiry/low stock alerts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SYSTEM PROCESS FLOW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4575"/>
            <a:ext cx="349240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14575"/>
            <a:ext cx="3492549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14575"/>
            <a:ext cx="34924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904875" y="3295650"/>
            <a:ext cx="296693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Inventory Tracking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04875" y="3962400"/>
            <a:ext cx="2825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Digital logging of chemical entry/exit using QR technology to maintain accurate quantity levels.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4683025" y="3295650"/>
            <a:ext cx="296708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Expiry Guard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4683025" y="3962400"/>
            <a:ext cx="28257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Algorithm-based monitoring that flags chemicals 30 days prior to their disposal deadline.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8461325" y="3295650"/>
            <a:ext cx="296693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Safety Digital SDS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8461325" y="3962400"/>
            <a:ext cx="28256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Centralized database of Safety Data Sheets accessible via any mobile device in the lab.</a:t>
            </a:r>
            <a:endParaRPr/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6860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3025" y="26860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1325" y="26860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CORE SOLUTION CONCEPT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57387"/>
            <a:ext cx="352425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957387"/>
            <a:ext cx="352425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1957387"/>
            <a:ext cx="3524250" cy="2181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19612"/>
            <a:ext cx="11049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24075" y="2347912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771525" y="3014662"/>
            <a:ext cx="3124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Python Flask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71525" y="3386137"/>
            <a:ext cx="3124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Micro-web framework for robust backend API handling and business logic.</a:t>
            </a:r>
            <a:endParaRPr/>
          </a:p>
        </p:txBody>
      </p:sp>
      <p:pic>
        <p:nvPicPr>
          <p:cNvPr descr="image.png" id="168" name="Google Shape;16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95962" y="2347912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4533900" y="3014662"/>
            <a:ext cx="3124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HTML, CSS, JS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4533900" y="3386137"/>
            <a:ext cx="3124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Frontend stack for a responsive, interactive administrative dashboard.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48825" y="2347912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8296275" y="3014662"/>
            <a:ext cx="31242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SQLite DB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296275" y="3386137"/>
            <a:ext cx="3124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Lightweight, file-based relational database for local lab data storage.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TECHNOLOGY STACK</a:t>
            </a:r>
            <a:endParaRPr/>
          </a:p>
        </p:txBody>
      </p:sp>
      <p:sp>
        <p:nvSpPr>
          <p:cNvPr id="175" name="Google Shape;175;p17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526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1381125" y="2857500"/>
            <a:ext cx="4429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Lab Procurement: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Automate purchase orders based on depletion thresholds.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381125" y="3571875"/>
            <a:ext cx="4429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Regulatory Audit: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Export CSV/PDF reports of all hazardous materials for safety inspectors.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381125" y="4286250"/>
            <a:ext cx="44291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Researcher Safety: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Search for chemical compatibility and storage hazards before usage.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PRIMARY USE CASES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8" name="Google Shape;18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8575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5718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2862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28750"/>
            <a:ext cx="1104900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904875" y="1762125"/>
            <a:ext cx="109013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Intelligent Risk Matrix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904875" y="2590800"/>
            <a:ext cx="103822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solution goes beyond tracking. It includes a </a:t>
            </a:r>
            <a:r>
              <a:rPr b="1" i="0" lang="en-US" sz="18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Storage Compatibility Matrix</a:t>
            </a: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that alerts staff if incompatible chemicals (e.g., Acids and Bases) are logged into the same storage cabinet, preventing accidental reactions.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THE SHOWSTOPPER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p20"/>
          <p:cNvGraphicFramePr/>
          <p:nvPr/>
        </p:nvGraphicFramePr>
        <p:xfrm>
          <a:off x="571500" y="26717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{6CED676E-008B-4513-818E-77692469F5DE}</a:tableStyleId>
              </a:tblPr>
              <a:tblGrid>
                <a:gridCol w="2836225"/>
                <a:gridCol w="2244325"/>
                <a:gridCol w="3650000"/>
                <a:gridCol w="2318450"/>
              </a:tblGrid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Phone Number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College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Team Lead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[Name]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[Number]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CBIT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Member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[Name]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[Number]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CBIT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Member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[Name]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[Number]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CBIT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Member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[Name]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[Number]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CBIT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7" name="Google Shape;207;p20"/>
          <p:cNvSpPr/>
          <p:nvPr/>
        </p:nvSpPr>
        <p:spPr>
          <a:xfrm>
            <a:off x="571500" y="3600450"/>
            <a:ext cx="2836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3407717" y="3600450"/>
            <a:ext cx="22443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652045" y="3600450"/>
            <a:ext cx="3650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9302055" y="3600450"/>
            <a:ext cx="23184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71500" y="4076700"/>
            <a:ext cx="2836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407717" y="4076700"/>
            <a:ext cx="22443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652045" y="4076700"/>
            <a:ext cx="3650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9302055" y="4076700"/>
            <a:ext cx="23184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571500" y="4552950"/>
            <a:ext cx="2836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3407717" y="4552950"/>
            <a:ext cx="22443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652045" y="4552950"/>
            <a:ext cx="3650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9302055" y="4552950"/>
            <a:ext cx="23184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71500" y="5029200"/>
            <a:ext cx="28362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3407717" y="5029200"/>
            <a:ext cx="22443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5652045" y="5029200"/>
            <a:ext cx="36500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9302055" y="5029200"/>
            <a:ext cx="23184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/>
          </a:p>
        </p:txBody>
      </p:sp>
      <p:sp>
        <p:nvSpPr>
          <p:cNvPr id="224" name="Google Shape;224;p20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295275" y="2128837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571500" y="3157537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Towards Safer and Smarter Laboratories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571500" y="430053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SUDHEE 2026 | Smart Chemical Inventory Project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/>
          <p:nvPr/>
        </p:nvSpPr>
        <p:spPr>
          <a:xfrm>
            <a:off x="571500" y="26193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571500" y="33909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571500" y="3381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571500" y="33813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71500" y="4152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571500" y="41529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4" name="Google Shape;2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622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1666875" y="27693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https://www.conceptdraw.com/How-To-Guide/picture/how-to-create-chemical-process-flow-diagram-4.png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1666875" y="30027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www.conceptdraw.com</a:t>
            </a:r>
            <a:endParaRPr/>
          </a:p>
        </p:txBody>
      </p:sp>
      <p:pic>
        <p:nvPicPr>
          <p:cNvPr descr="image.png" id="247" name="Google Shape;24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337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1666875" y="35409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https://files.realpython.com/media/Python-driven-Web-Applications_Watermarked.c5692cb81de8.jpg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1666875" y="37742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realpython.com</a:t>
            </a:r>
            <a:endParaRPr/>
          </a:p>
        </p:txBody>
      </p:sp>
      <p:pic>
        <p:nvPicPr>
          <p:cNvPr descr="image.png" id="250" name="Google Shape;25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910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1666875" y="43053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https://png.pngtree.com/thumb_back/fw800/background/20251217/pngtree-diverse-international-team-of-professional-scientists-and-engineers-walking-through-a-image_20859546.webp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1666875" y="47244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571500" y="571500"/>
            <a:ext cx="76200" cy="571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