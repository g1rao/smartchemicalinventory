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Lato"/>
      <p:regular r:id="rId20"/>
      <p:bold r:id="rId21"/>
      <p:italic r:id="rId22"/>
      <p:boldItalic r:id="rId23"/>
    </p:embeddedFont>
    <p:embeddedFont>
      <p:font typeface="Poppi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1CB9368-6F52-4245-9475-A359DDDC318C}">
  <a:tblStyle styleId="{21CB9368-6F52-4245-9475-A359DDDC318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Poppins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14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1.png"/><Relationship Id="rId6" Type="http://schemas.openxmlformats.org/officeDocument/2006/relationships/image" Target="../media/image32.png"/><Relationship Id="rId7" Type="http://schemas.openxmlformats.org/officeDocument/2006/relationships/image" Target="../media/image10.png"/><Relationship Id="rId8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29.png"/><Relationship Id="rId7" Type="http://schemas.openxmlformats.org/officeDocument/2006/relationships/image" Target="../media/image25.png"/><Relationship Id="rId8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1.png"/><Relationship Id="rId6" Type="http://schemas.openxmlformats.org/officeDocument/2006/relationships/image" Target="../media/image23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36.png"/><Relationship Id="rId6" Type="http://schemas.openxmlformats.org/officeDocument/2006/relationships/image" Target="../media/image28.png"/><Relationship Id="rId7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36441"/>
            <a:ext cx="11049000" cy="13239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80010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SUDHEE 2026 CBIT HACKATHON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1524000"/>
            <a:ext cx="1160145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Smart Chemical Inventory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Management System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42950" y="3988891"/>
            <a:ext cx="15430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Smart Lab Inventory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489400" y="3988891"/>
            <a:ext cx="14382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[Enter Team Name]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235850" y="3988891"/>
            <a:ext cx="1390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[Enter Lead Name]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42950" y="4550866"/>
            <a:ext cx="3905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CBIT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489400" y="4550866"/>
            <a:ext cx="12858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Web Application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8235850" y="4550866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[Problem ID]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526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71500" y="2381250"/>
            <a:ext cx="5238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Smart Chemical Inventory Management System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addresses the critical need for modernized safety and stock tracking in CBIT laboratories. Our project replaces manual, error-prone logs with a centralized web ecosystem.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3714750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Core Concept: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 create a real-time, high-security dashboard that streamlines the procurement, usage, and disposal of hazardous chemicals.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4762500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Key Objectives: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Minimize chemical waste, prevent expiry-related hazards, and ensure 100% regulatory safety compliance.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526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ABSTRACT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71700"/>
            <a:ext cx="3492400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171700"/>
            <a:ext cx="3492549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171700"/>
            <a:ext cx="3492400" cy="3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904875" y="3152775"/>
            <a:ext cx="296693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Manual Tracking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04875" y="3819525"/>
            <a:ext cx="28256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Current systems rely on paper logs, leading to data fragmentation and high error rates in stock levels.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683025" y="3152775"/>
            <a:ext cx="296708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Hazardous Waste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683025" y="3819525"/>
            <a:ext cx="28257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Unknown expiry dates lead to the accumulation of dangerous, unstable chemicals on lab shelves.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461325" y="3152775"/>
            <a:ext cx="296693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Compliance Gaps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461325" y="3819525"/>
            <a:ext cx="28256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Difficult to generate instant safety reports or audit logs for regulatory inspections.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875" y="25431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3025" y="25431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61325" y="2543175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THE PROBLEM STATEMENT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262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526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6381750" y="2166937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Integrated Web Ecosystem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381750" y="2633662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secure digital inventory system designed specifically for the rigorous environment of CBIT labs. Our platform offers: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810375" y="3395662"/>
            <a:ext cx="48101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Unified Dashboard: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Centralized view of all chemicals across multiple laboratory wings.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810375" y="4110037"/>
            <a:ext cx="48101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Role-Based Access: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Separate portals for Lab Assistants, Professors, and Admin.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810375" y="4824412"/>
            <a:ext cx="48101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Dynamic Search: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Find chemicals by name, CAS number, or shelf location instantly.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OUR SOLUTION: SMART LAB HUB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9" name="Google Shape;13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3956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1100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824412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762000" y="762000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PROCESS FLOW CHART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71500" y="762000"/>
            <a:ext cx="762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571500" y="2062162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Our prototype follows a logical, secure workflow to ensure no chemical goes untracked from purchase to disposal.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1000125" y="2976562"/>
            <a:ext cx="4524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Ingestion: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Scan Barcode/QR to enter new chemical data.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1000125" y="3690937"/>
            <a:ext cx="4524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Monitoring: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System tracks quantity and environmental conditions.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1000125" y="4405312"/>
            <a:ext cx="4524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Trigger: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Low stock or expiry alerts sent to the dashboard.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1000125" y="5119687"/>
            <a:ext cx="4524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Disposal: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Log safe disposal according to SDS guidelines.</a:t>
            </a:r>
            <a:endParaRPr/>
          </a:p>
        </p:txBody>
      </p:sp>
      <p:pic>
        <p:nvPicPr>
          <p:cNvPr descr="image.png" id="155" name="Google Shape;15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765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909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4053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119687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71700"/>
            <a:ext cx="3492400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171700"/>
            <a:ext cx="3492549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171700"/>
            <a:ext cx="3492400" cy="3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904875" y="3152775"/>
            <a:ext cx="296693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Automatic Alerts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904875" y="3819525"/>
            <a:ext cx="28256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Real-time notifications for chemicals approaching their expiry date or falling below safety thresholds.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4683025" y="3152775"/>
            <a:ext cx="296708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SDS Digital Vault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4683025" y="3819525"/>
            <a:ext cx="28257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Instant access to Safety Data Sheets (SDS) for every item in the inventory during emergencies.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8461325" y="3152775"/>
            <a:ext cx="296693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Usage Analytics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8461325" y="3819525"/>
            <a:ext cx="28256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Visual trends showing which chemicals are most used to optimize future procurement budgets.</a:t>
            </a:r>
            <a:endParaRPr/>
          </a:p>
        </p:txBody>
      </p:sp>
      <p:pic>
        <p:nvPicPr>
          <p:cNvPr descr="image.png" id="173" name="Google Shape;17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875" y="25431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3025" y="25431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61325" y="25431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SYSTEM PROTOTYPE FEATURES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14575"/>
            <a:ext cx="3492400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314575"/>
            <a:ext cx="3492549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314575"/>
            <a:ext cx="349240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904875" y="3295650"/>
            <a:ext cx="296693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Frontend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904875" y="3962400"/>
            <a:ext cx="28256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React.js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with </a:t>
            </a: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Tailwind CSS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for a fast, responsive, and mobile-friendly user interface.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4683025" y="3295650"/>
            <a:ext cx="296708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Backend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4683025" y="3962400"/>
            <a:ext cx="28257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Node.js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Express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providing a secure RESTful API architecture for data handling.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8461325" y="3295650"/>
            <a:ext cx="296693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Database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8461325" y="3962400"/>
            <a:ext cx="28256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PostgreSQL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for robust relational data management with high-integrity audit logging.</a:t>
            </a:r>
            <a:endParaRPr/>
          </a:p>
        </p:txBody>
      </p:sp>
      <p:pic>
        <p:nvPicPr>
          <p:cNvPr descr="image.png" id="192" name="Google Shape;19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875" y="26860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3025" y="268605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61325" y="268605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TECHNOLOGY STACK</a:t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1000125" y="3071812"/>
            <a:ext cx="10620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Safety Compliance Audits: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Generate a comprehensive inventory report in seconds for external safety inspectors.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1000125" y="3500437"/>
            <a:ext cx="10620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Emergency Management: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Firefighters or first responders can remotely access chemical maps to identify flammable zones.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1000125" y="3929062"/>
            <a:ext cx="10620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Budget Planning: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Department heads can identify unused surplus in one lab and transfer it to another, saving costs.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1000125" y="4357687"/>
            <a:ext cx="10620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Researcher Training: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New students can check digital logs for chemical compatibility before starting experiments.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USE CASE SCENARIOS</a:t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8" name="Google Shape;20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718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004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290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357687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571500" y="2857500"/>
            <a:ext cx="52387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100%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571500" y="4381500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Compliance Accuracy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6381750" y="3100387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Predictive Shelf-Life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6381750" y="3567112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Our unique </a:t>
            </a: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"Safe-Stock" Algorithm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doesn't just track expiry; it predicts degradation based on lab temperature logs (via IoT sensors), making our system proactive rather than just reactive.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THE SHOWSTOPPER</a:t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71700"/>
            <a:ext cx="3492400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171700"/>
            <a:ext cx="3492549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171700"/>
            <a:ext cx="3492400" cy="3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904875" y="3152775"/>
            <a:ext cx="296693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Connectivity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904875" y="3819525"/>
            <a:ext cx="28256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Requires consistent Wi-Fi access in basement laboratory areas for real-time mobile syncing.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4683025" y="3152775"/>
            <a:ext cx="296708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Initial Migration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4683025" y="3819525"/>
            <a:ext cx="28257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Manual entry of the existing physical inventory into the digital system during the rollout phase.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8461325" y="3152775"/>
            <a:ext cx="296693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User Training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8461325" y="3819525"/>
            <a:ext cx="28256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Brief training for lab staff to ensure standard operating procedures for barcode scanning are followed.</a:t>
            </a:r>
            <a:endParaRPr/>
          </a:p>
        </p:txBody>
      </p:sp>
      <p:pic>
        <p:nvPicPr>
          <p:cNvPr descr="image.png" id="237" name="Google Shape;23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875" y="25431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3025" y="25431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61325" y="254317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DEPENDENCIES &amp; CHALLENGES</a:t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7" name="Google Shape;247;p23"/>
          <p:cNvGraphicFramePr/>
          <p:nvPr/>
        </p:nvGraphicFramePr>
        <p:xfrm>
          <a:off x="571500" y="26431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{21CB9368-6F52-4245-9475-A359DDDC318C}</a:tableStyleId>
              </a:tblPr>
              <a:tblGrid>
                <a:gridCol w="2244925"/>
                <a:gridCol w="2420550"/>
                <a:gridCol w="2069150"/>
                <a:gridCol w="4314375"/>
              </a:tblGrid>
              <a:tr h="48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Position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Full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College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Contact Information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Team Lead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[Name]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CBIT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[Phone Number]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Member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[Name]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CBIT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[Phone Number]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Member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[Name]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CBIT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[Phone Number]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Member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[Name]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CBIT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[Phone Number]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48" name="Google Shape;248;p23"/>
          <p:cNvSpPr/>
          <p:nvPr/>
        </p:nvSpPr>
        <p:spPr>
          <a:xfrm>
            <a:off x="571500" y="3629025"/>
            <a:ext cx="22449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2816423" y="3629025"/>
            <a:ext cx="24205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5236964" y="3629025"/>
            <a:ext cx="20691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7306121" y="3629025"/>
            <a:ext cx="43143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571500" y="4105275"/>
            <a:ext cx="22449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2816423" y="4105275"/>
            <a:ext cx="24205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5236964" y="4105275"/>
            <a:ext cx="20691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7306121" y="4105275"/>
            <a:ext cx="43143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571500" y="4581525"/>
            <a:ext cx="22449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2816423" y="4581525"/>
            <a:ext cx="24205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5236964" y="4581525"/>
            <a:ext cx="20691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7306121" y="4581525"/>
            <a:ext cx="43143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571500" y="5057775"/>
            <a:ext cx="22449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2816423" y="5057775"/>
            <a:ext cx="24205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5236964" y="5057775"/>
            <a:ext cx="20691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7306121" y="5057775"/>
            <a:ext cx="43143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TEAM DETAILS</a:t>
            </a:r>
            <a:endParaRPr/>
          </a:p>
        </p:txBody>
      </p:sp>
      <p:sp>
        <p:nvSpPr>
          <p:cNvPr id="265" name="Google Shape;265;p23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0" y="2156370"/>
            <a:ext cx="38100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4"/>
          <p:cNvSpPr txBox="1"/>
          <p:nvPr/>
        </p:nvSpPr>
        <p:spPr>
          <a:xfrm>
            <a:off x="295275" y="571500"/>
            <a:ext cx="11601450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571500" y="143247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Questions &amp; Discussion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571500" y="491862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SUDHEE 2026 CBIT HACKATHON</a:t>
            </a:r>
            <a:endParaRPr/>
          </a:p>
        </p:txBody>
      </p:sp>
      <p:pic>
        <p:nvPicPr>
          <p:cNvPr descr="image.png" id="275" name="Google Shape;27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91000" y="2156370"/>
            <a:ext cx="3810000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5"/>
          <p:cNvSpPr/>
          <p:nvPr/>
        </p:nvSpPr>
        <p:spPr>
          <a:xfrm>
            <a:off x="571500" y="23193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571500" y="309086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571500" y="386238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571500" y="30813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571500" y="30813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571500" y="3852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571500" y="3852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571500" y="46243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571500" y="46243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0" name="Google Shape;29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622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5"/>
          <p:cNvSpPr txBox="1"/>
          <p:nvPr/>
        </p:nvSpPr>
        <p:spPr>
          <a:xfrm>
            <a:off x="1666875" y="24693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https://image.made-in-china.com/2f0j00tkObmrSEfcoq/Professional-Laboratory-Design-Steel-Structure-Chemical-Lab-Floor-Mounted-Island-Workstation.webp</a:t>
            </a:r>
            <a:endParaRPr/>
          </a:p>
        </p:txBody>
      </p:sp>
      <p:sp>
        <p:nvSpPr>
          <p:cNvPr id="292" name="Google Shape;292;p25"/>
          <p:cNvSpPr txBox="1"/>
          <p:nvPr/>
        </p:nvSpPr>
        <p:spPr>
          <a:xfrm>
            <a:off x="1666875" y="27027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m.made-in-china.com</a:t>
            </a:r>
            <a:endParaRPr/>
          </a:p>
        </p:txBody>
      </p:sp>
      <p:pic>
        <p:nvPicPr>
          <p:cNvPr descr="image.png" id="293" name="Google Shape;29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337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5"/>
          <p:cNvSpPr txBox="1"/>
          <p:nvPr/>
        </p:nvSpPr>
        <p:spPr>
          <a:xfrm>
            <a:off x="1666875" y="32408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https://s3.envato.com/files/217054283/01_modern_theme_preview.__large_preview.__large_preview.png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1666875" y="34742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themeforest.net</a:t>
            </a:r>
            <a:endParaRPr/>
          </a:p>
        </p:txBody>
      </p:sp>
      <p:pic>
        <p:nvPicPr>
          <p:cNvPr descr="image.png" id="296" name="Google Shape;29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052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5"/>
          <p:cNvSpPr txBox="1"/>
          <p:nvPr/>
        </p:nvSpPr>
        <p:spPr>
          <a:xfrm>
            <a:off x="1666875" y="40124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https://media.istockphoto.com/id/981756224/vector/infographic-elements.jpg?s=612x612&amp;w=0&amp;k=20&amp;c=Kzhy0Fi5stb3OEZB-uTtNX4p1n_2Lx1rULyKHyMHTGs=</a:t>
            </a:r>
            <a:endParaRPr/>
          </a:p>
        </p:txBody>
      </p:sp>
      <p:sp>
        <p:nvSpPr>
          <p:cNvPr id="298" name="Google Shape;298;p25"/>
          <p:cNvSpPr txBox="1"/>
          <p:nvPr/>
        </p:nvSpPr>
        <p:spPr>
          <a:xfrm>
            <a:off x="1666875" y="42457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www.istockphoto.com</a:t>
            </a:r>
            <a:endParaRPr/>
          </a:p>
        </p:txBody>
      </p:sp>
      <p:pic>
        <p:nvPicPr>
          <p:cNvPr descr="image.png" id="299" name="Google Shape;29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7767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5"/>
          <p:cNvSpPr txBox="1"/>
          <p:nvPr/>
        </p:nvSpPr>
        <p:spPr>
          <a:xfrm>
            <a:off x="1666875" y="47839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https://img.freepik.com/premium-photo/group-students-work-together-laboratory-setting-examining-chemicals-beakers_14117-881401.jpg?w=360</a:t>
            </a:r>
            <a:endParaRPr/>
          </a:p>
        </p:txBody>
      </p:sp>
      <p:sp>
        <p:nvSpPr>
          <p:cNvPr id="301" name="Google Shape;301;p25"/>
          <p:cNvSpPr txBox="1"/>
          <p:nvPr/>
        </p:nvSpPr>
        <p:spPr>
          <a:xfrm>
            <a:off x="1666875" y="50172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www.freepik.com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303" name="Google Shape;303;p25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